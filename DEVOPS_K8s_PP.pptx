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49ED8AE-5C72-4EE8-B567-886EDEAE6DDE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18F583-103F-4F4E-BC80-5087FE02F2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8E9E06-8E80-4C0B-AAB7-0A449F39AF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4981E7-9B1C-4D9A-AE45-6B0821A963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4FD36A-85CE-4067-84B5-A3773EF8A5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DA953B-D6C9-4968-B78D-84E523D0D3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AA365E-50B2-4AAC-8585-727A2B45BE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A1DED9-F4CD-4EE6-8FDB-91D90AE3D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DEC8E0-6973-42FE-A67B-F929A907CB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FEBAA0-BD9C-49FB-9C90-D521903BB5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6C15B3-CE4F-4B11-A8E8-103AAE404A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B7C2EC-AFDF-4A85-A50C-6F9C8BED88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19A272-FC86-4E53-85EE-130354AB1D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BB3F19-2CAC-4C48-96C3-58319D8665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645EA3-A6F7-4EDF-AB09-9E7E5365D3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63A83F-1C8B-4A7C-8028-1D07E432FB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9CE38B-0C98-4A38-9227-6EEB95FAB0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932A22-4B4E-4E07-A2E0-7839FAE49B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E44C0C-337A-4268-8BD7-426B407FC5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F0C1C3-75FA-4273-9363-9481A7BF0D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BE055A-2798-4B30-BD01-97805F43A4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B5AA72-67A9-43DD-A04E-42183E223B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0F7572-2609-4A8A-BC2D-F41E0645E8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1D9FDB-177F-4C3F-9299-F0BAFF20E7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FF7F1C-9172-4235-A244-6E8D39311A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963465-D53D-496B-917E-0227B277C6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96D198-ABD1-4176-99C4-2D0FAE85EE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5DF456-05F1-4F95-B5F2-F542ED36B4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560A5C-788E-4080-9CDD-1C3D918E70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45648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486400" y="-1645920"/>
            <a:ext cx="5028480" cy="5028480"/>
          </a:xfrm>
          <a:prstGeom prst="ellipse">
            <a:avLst/>
          </a:prstGeom>
          <a:solidFill>
            <a:srgbClr val="0d2f4e"/>
          </a:solidFill>
          <a:ln w="12700">
            <a:solidFill>
              <a:srgbClr val="0d2f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400800" y="-914400"/>
            <a:ext cx="3474000" cy="34740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548640"/>
            <a:ext cx="7771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Projet DevOps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1298520"/>
            <a:ext cx="7314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Infrastructure automatisée — M2</a:t>
            </a:r>
            <a:endParaRPr lang="fr-F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40080" y="1783080"/>
            <a:ext cx="4571280" cy="4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1920240"/>
            <a:ext cx="7771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99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Proxmox  ·  Terraform  ·  Ansible  ·  Kubernetes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40080" y="274320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Jérémy FOURNIER</a:t>
            </a:r>
            <a:r>
              <a:rPr lang="en-US" sz="13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  — 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Kenza NAIT ATMANE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40080" y="31273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ba4cc"/>
                </a:solidFill>
                <a:effectLst/>
                <a:uFillTx/>
                <a:latin typeface="Calibri"/>
                <a:ea typeface="Calibri"/>
              </a:rPr>
              <a:t>Master 2 Réseaux et Télécommunications  |  2026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40080" y="3822120"/>
            <a:ext cx="1508040" cy="346680"/>
          </a:xfrm>
          <a:prstGeom prst="rect">
            <a:avLst/>
          </a:prstGeom>
          <a:solidFill>
            <a:srgbClr val="ff972f">
              <a:alpha val="85000"/>
            </a:srgbClr>
          </a:solidFill>
          <a:ln w="1905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40080" y="3822120"/>
            <a:ext cx="1508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Proxmox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2304360" y="3822120"/>
            <a:ext cx="1508040" cy="346680"/>
          </a:xfrm>
          <a:prstGeom prst="rect">
            <a:avLst/>
          </a:prstGeom>
          <a:solidFill>
            <a:srgbClr val="8d1d75">
              <a:alpha val="85000"/>
            </a:srgbClr>
          </a:solidFill>
          <a:ln w="19050">
            <a:solidFill>
              <a:srgbClr val="5530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2304360" y="3822120"/>
            <a:ext cx="1508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Terraform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3968640" y="3822120"/>
            <a:ext cx="1508040" cy="346680"/>
          </a:xfrm>
          <a:prstGeom prst="rect">
            <a:avLst/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3968640" y="3822120"/>
            <a:ext cx="1508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Ansible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5632560" y="3822120"/>
            <a:ext cx="1508040" cy="346680"/>
          </a:xfrm>
          <a:prstGeom prst="rect">
            <a:avLst/>
          </a:prstGeom>
          <a:solidFill>
            <a:srgbClr val="2a6099">
              <a:alpha val="85000"/>
            </a:srgbClr>
          </a:solidFill>
          <a:ln w="1905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632560" y="3822120"/>
            <a:ext cx="1508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Kubernetes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7296840" y="3822120"/>
            <a:ext cx="1508040" cy="346680"/>
          </a:xfrm>
          <a:prstGeom prst="rect">
            <a:avLst/>
          </a:prstGeom>
          <a:solidFill>
            <a:srgbClr val="16a34a">
              <a:alpha val="85000"/>
            </a:srgbClr>
          </a:solidFill>
          <a:ln w="190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7296840" y="3822120"/>
            <a:ext cx="1508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Wiki.js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4b8ab8"/>
                </a:solidFill>
                <a:effectLst/>
                <a:uFillTx/>
                <a:latin typeface="Calibri"/>
                <a:ea typeface="Calibri"/>
              </a:rPr>
              <a:t>Jérémy FOURNIER - Kenza NAIT ATMANE  |  M2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Sommaire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Plan de la présentation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274320" y="120708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274320" y="1207080"/>
            <a:ext cx="474840" cy="712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274320" y="120708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841320" y="129852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Contexte &amp; Objectifs DevOps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4709160" y="120708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4709160" y="1207080"/>
            <a:ext cx="474840" cy="712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4709160" y="120708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5276160" y="129852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Hyperviseur Proxmox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>
            <a:off x="274320" y="207576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274320" y="2075760"/>
            <a:ext cx="474840" cy="712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274320" y="207576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841320" y="216720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Infrastructure as Code — Terraform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6"/>
          <p:cNvSpPr/>
          <p:nvPr/>
        </p:nvSpPr>
        <p:spPr>
          <a:xfrm>
            <a:off x="4709160" y="207576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7"/>
          <p:cNvSpPr/>
          <p:nvPr/>
        </p:nvSpPr>
        <p:spPr>
          <a:xfrm>
            <a:off x="4709160" y="2075760"/>
            <a:ext cx="474840" cy="712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4709160" y="207576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5276160" y="216720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Configuration &amp; Sécurité — Ansible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0"/>
          <p:cNvSpPr/>
          <p:nvPr/>
        </p:nvSpPr>
        <p:spPr>
          <a:xfrm>
            <a:off x="274320" y="294444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1"/>
          <p:cNvSpPr/>
          <p:nvPr/>
        </p:nvSpPr>
        <p:spPr>
          <a:xfrm>
            <a:off x="274320" y="2944440"/>
            <a:ext cx="474840" cy="712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274320" y="294444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841320" y="303588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Architecture Kubernetes — Cluster &amp; Composants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4"/>
          <p:cNvSpPr/>
          <p:nvPr/>
        </p:nvSpPr>
        <p:spPr>
          <a:xfrm>
            <a:off x="4709160" y="294444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5"/>
          <p:cNvSpPr/>
          <p:nvPr/>
        </p:nvSpPr>
        <p:spPr>
          <a:xfrm>
            <a:off x="4709160" y="2944440"/>
            <a:ext cx="474840" cy="712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6"/>
          <p:cNvSpPr/>
          <p:nvPr/>
        </p:nvSpPr>
        <p:spPr>
          <a:xfrm>
            <a:off x="4709160" y="294444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7"/>
          <p:cNvSpPr/>
          <p:nvPr/>
        </p:nvSpPr>
        <p:spPr>
          <a:xfrm>
            <a:off x="5276160" y="303588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Services Plateforme — MetalLB &amp; Ingress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8"/>
          <p:cNvSpPr/>
          <p:nvPr/>
        </p:nvSpPr>
        <p:spPr>
          <a:xfrm>
            <a:off x="274320" y="381312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9"/>
          <p:cNvSpPr/>
          <p:nvPr/>
        </p:nvSpPr>
        <p:spPr>
          <a:xfrm>
            <a:off x="274320" y="3813120"/>
            <a:ext cx="474840" cy="712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0"/>
          <p:cNvSpPr/>
          <p:nvPr/>
        </p:nvSpPr>
        <p:spPr>
          <a:xfrm>
            <a:off x="274320" y="381312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1"/>
          <p:cNvSpPr/>
          <p:nvPr/>
        </p:nvSpPr>
        <p:spPr>
          <a:xfrm>
            <a:off x="841320" y="390456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Déploiement Applicatif — Wiki.js &amp; Scaling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2"/>
          <p:cNvSpPr/>
          <p:nvPr/>
        </p:nvSpPr>
        <p:spPr>
          <a:xfrm>
            <a:off x="4709160" y="3813120"/>
            <a:ext cx="4159800" cy="71244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3"/>
          <p:cNvSpPr/>
          <p:nvPr/>
        </p:nvSpPr>
        <p:spPr>
          <a:xfrm>
            <a:off x="4709160" y="3813120"/>
            <a:ext cx="474840" cy="712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4"/>
          <p:cNvSpPr/>
          <p:nvPr/>
        </p:nvSpPr>
        <p:spPr>
          <a:xfrm>
            <a:off x="4709160" y="3813120"/>
            <a:ext cx="474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5"/>
          <p:cNvSpPr/>
          <p:nvPr/>
        </p:nvSpPr>
        <p:spPr>
          <a:xfrm>
            <a:off x="5276160" y="3904560"/>
            <a:ext cx="3492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Workflow Complet &amp; Conclusion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6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7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8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Contexte &amp; Objectifs DevOps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Problématique &amp; Objectifs du projet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Pourquoi cette approche DevOps ?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320040" y="1474560"/>
            <a:ext cx="4662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Les infrastructures modernes ne peuvent plus être gérées manuellement. Le projet vise à construire une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chaîne d'automatisation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complète et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reproductible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de la création des VMs jusqu'à l'application en production.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320040" y="2412000"/>
            <a:ext cx="4662720" cy="14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Provisionnement automatique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des ressources système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Configuration homogène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et sécurisée des machines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Déploiement applicatif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conteneurisé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et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orchestré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Montée en charge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dynamique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selon la demande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Infrastructure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déclarative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— 100% reproductible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5166360" y="1186920"/>
            <a:ext cx="3702600" cy="3240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5257800" y="125100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Chaîne d'automatisation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5349240" y="1616760"/>
            <a:ext cx="3336840" cy="419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5349240" y="1616760"/>
            <a:ext cx="33368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7236000" y="1635120"/>
            <a:ext cx="107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Hyperviseur / VMs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6812280" y="2037240"/>
            <a:ext cx="360" cy="16452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2"/>
          <p:cNvSpPr/>
          <p:nvPr/>
        </p:nvSpPr>
        <p:spPr>
          <a:xfrm>
            <a:off x="5349240" y="2165400"/>
            <a:ext cx="3336840" cy="419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5349240" y="2165400"/>
            <a:ext cx="33368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7257240" y="2183760"/>
            <a:ext cx="1428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Déploiemment automatisée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6812280" y="2585880"/>
            <a:ext cx="360" cy="16452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6"/>
          <p:cNvSpPr/>
          <p:nvPr/>
        </p:nvSpPr>
        <p:spPr>
          <a:xfrm>
            <a:off x="5349240" y="2714040"/>
            <a:ext cx="3336840" cy="419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5349240" y="2714040"/>
            <a:ext cx="33368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18"/>
          <p:cNvSpPr/>
          <p:nvPr/>
        </p:nvSpPr>
        <p:spPr>
          <a:xfrm>
            <a:off x="7257240" y="2732400"/>
            <a:ext cx="1310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Configuration automatisée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9"/>
          <p:cNvSpPr/>
          <p:nvPr/>
        </p:nvSpPr>
        <p:spPr>
          <a:xfrm>
            <a:off x="6812280" y="3134520"/>
            <a:ext cx="360" cy="16452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0"/>
          <p:cNvSpPr/>
          <p:nvPr/>
        </p:nvSpPr>
        <p:spPr>
          <a:xfrm>
            <a:off x="5349240" y="3262680"/>
            <a:ext cx="3336840" cy="419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1"/>
          <p:cNvSpPr/>
          <p:nvPr/>
        </p:nvSpPr>
        <p:spPr>
          <a:xfrm>
            <a:off x="5349240" y="3262680"/>
            <a:ext cx="33368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7257240" y="3281040"/>
            <a:ext cx="1490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Orchestration de conteneurs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3"/>
          <p:cNvSpPr/>
          <p:nvPr/>
        </p:nvSpPr>
        <p:spPr>
          <a:xfrm>
            <a:off x="6812280" y="3683160"/>
            <a:ext cx="360" cy="16452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4"/>
          <p:cNvSpPr/>
          <p:nvPr/>
        </p:nvSpPr>
        <p:spPr>
          <a:xfrm>
            <a:off x="5349240" y="3811320"/>
            <a:ext cx="3336840" cy="419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5349240" y="3811320"/>
            <a:ext cx="33368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26"/>
          <p:cNvSpPr/>
          <p:nvPr/>
        </p:nvSpPr>
        <p:spPr>
          <a:xfrm>
            <a:off x="7725240" y="3829680"/>
            <a:ext cx="950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 métier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7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8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9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5470920" y="1701000"/>
            <a:ext cx="1584720" cy="23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2"/>
          <a:srcRect l="5851" t="38174" r="0" b="39035"/>
          <a:stretch/>
        </p:blipFill>
        <p:spPr>
          <a:xfrm>
            <a:off x="5400000" y="2165400"/>
            <a:ext cx="1736280" cy="41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3"/>
          <a:stretch/>
        </p:blipFill>
        <p:spPr>
          <a:xfrm>
            <a:off x="5376240" y="2628000"/>
            <a:ext cx="1155960" cy="57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/>
          <p:cNvPicPr/>
          <p:nvPr/>
        </p:nvPicPr>
        <p:blipFill>
          <a:blip r:embed="rId4"/>
          <a:stretch/>
        </p:blipFill>
        <p:spPr>
          <a:xfrm>
            <a:off x="5463360" y="3348000"/>
            <a:ext cx="155628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/>
          <p:cNvPicPr/>
          <p:nvPr/>
        </p:nvPicPr>
        <p:blipFill>
          <a:blip r:embed="rId5"/>
          <a:stretch/>
        </p:blipFill>
        <p:spPr>
          <a:xfrm>
            <a:off x="5494680" y="3907440"/>
            <a:ext cx="984960" cy="28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Hyperviseur Proxmox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36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Hyperviseur Proxmox VE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Type 1 bare-metal — socle de l'infrastructure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180000" y="1620000"/>
            <a:ext cx="466272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Hyperviseur de Type 1 : s'exécute directement sur le matériel physique, sans OS intermédiaire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Basé sur KVM (virtualisation matérielle) + LXC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Interface web + API REST complète → intégration Terraform native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Open source — alternative souveraine à VMware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Gestion native : VMs, stockage, réseau, snapshots, Cloud-Init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5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6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360000" y="3780000"/>
            <a:ext cx="18000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/>
          <p:cNvPicPr/>
          <p:nvPr/>
        </p:nvPicPr>
        <p:blipFill>
          <a:blip r:embed="rId2"/>
          <a:stretch/>
        </p:blipFill>
        <p:spPr>
          <a:xfrm>
            <a:off x="4975560" y="1260000"/>
            <a:ext cx="3844080" cy="321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67"/>
          <p:cNvSpPr/>
          <p:nvPr/>
        </p:nvSpPr>
        <p:spPr>
          <a:xfrm>
            <a:off x="291240" y="13320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Approche retenue :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/>
          <p:cNvPicPr/>
          <p:nvPr/>
        </p:nvPicPr>
        <p:blipFill>
          <a:blip r:embed="rId3"/>
          <a:stretch/>
        </p:blipFill>
        <p:spPr>
          <a:xfrm>
            <a:off x="2764440" y="3420000"/>
            <a:ext cx="1915560" cy="10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"/>
          <p:cNvSpPr txBox="1"/>
          <p:nvPr/>
        </p:nvSpPr>
        <p:spPr>
          <a:xfrm>
            <a:off x="2340000" y="3672000"/>
            <a:ext cx="42444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fr-F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Golden Image — Ubuntu 24.04 Cloud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Pourquoi une Cloud Image plutôt qu'une ISO classique ?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284040" y="13316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Approche retenue :</a:t>
            </a:r>
            <a:endParaRPr lang="fr-FR" sz="1200" b="0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284040" y="1633320"/>
            <a:ext cx="466272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Image Cloud officielle Ubuntu 24.04 LTS (.img) — ~350 Mo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Cloud-Init intégré : IP, SSH, user injectés au boot par Terraform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Socle systmd + glibc + cgroups v2 → compatibilité K8s native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Ansible devient la seule "source de vérité" — pas de config dans l'image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Lutte contre le Configuration Drift : tout est dans les playbooks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5166360" y="1078920"/>
            <a:ext cx="3702600" cy="3519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5257800" y="1152000"/>
            <a:ext cx="3519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Comparaison OS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Table 0"/>
          <p:cNvGraphicFramePr/>
          <p:nvPr/>
        </p:nvGraphicFramePr>
        <p:xfrm>
          <a:off x="5230440" y="1481400"/>
          <a:ext cx="3565800" cy="2743200"/>
        </p:xfrm>
        <a:graphic>
          <a:graphicData uri="http://schemas.openxmlformats.org/drawingml/2006/table">
            <a:tbl>
              <a:tblPr/>
              <a:tblGrid>
                <a:gridCol w="1508760"/>
                <a:gridCol w="1005840"/>
                <a:gridCol w="105156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OS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K8s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Cloud-Init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Alpine Linux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⚠️ Faible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⚠️ Partiel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Debian 12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Excellent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Natif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891b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 24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Standard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Optimisé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Rocky Linux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Très bon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Natif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9" name="Text 8"/>
          <p:cNvSpPr/>
          <p:nvPr/>
        </p:nvSpPr>
        <p:spPr>
          <a:xfrm>
            <a:off x="284040" y="3456000"/>
            <a:ext cx="4662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Pipeline de création du template :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284040" y="3739320"/>
            <a:ext cx="1005120" cy="474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284040" y="3739320"/>
            <a:ext cx="1005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Téléchargement .img Ubuntu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1289880" y="3976920"/>
            <a:ext cx="10944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1399680" y="3739320"/>
            <a:ext cx="1005120" cy="474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399680" y="3739320"/>
            <a:ext cx="1005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Création VM + Cloud-Init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2405160" y="3976920"/>
            <a:ext cx="10980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2515320" y="3739320"/>
            <a:ext cx="1005120" cy="474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2515320" y="3739320"/>
            <a:ext cx="1005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Hardening + nettoyage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520800" y="3976920"/>
            <a:ext cx="10980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3630600" y="3739320"/>
            <a:ext cx="1005120" cy="474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3630600" y="3739320"/>
            <a:ext cx="1005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Conversion en Template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 as Code — Terraform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 as Code — Les 3 piliers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Terraform / OpenTofu : décrire l'infrastructure comme du code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274320" y="1359000"/>
            <a:ext cx="4585680" cy="1376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293760" y="1406520"/>
            <a:ext cx="533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🔄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792000" y="1512000"/>
            <a:ext cx="107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Idempotence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375480" y="1908000"/>
            <a:ext cx="430452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Exécuter le même script N fois → résultat toujours identique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Si l'état cible est déjà atteint, aucune action n'est effectuée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281160" y="2799000"/>
            <a:ext cx="4578840" cy="155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330120" y="2810520"/>
            <a:ext cx="533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726120" y="2909880"/>
            <a:ext cx="893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Déclaratif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375840" y="3312360"/>
            <a:ext cx="4484160" cy="12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On décrit CE QUE l'on veut, pas COMMENT le faire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Le fichier HCL définit l'état final souhaité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Terraform calcule lui-même les actions nécessaires pour y parvenir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"/>
          <p:cNvPicPr/>
          <p:nvPr/>
        </p:nvPicPr>
        <p:blipFill>
          <a:blip r:embed="rId1"/>
          <a:srcRect l="7284" t="6970" r="0" b="0"/>
          <a:stretch/>
        </p:blipFill>
        <p:spPr>
          <a:xfrm>
            <a:off x="5040000" y="1080000"/>
            <a:ext cx="3737520" cy="37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Terraform — Ce que l'on déploie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Provisionnement de 4 VMs Ubuntu via Proxmox API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320040" y="1727640"/>
            <a:ext cx="4617000" cy="14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Provider BPG (bpg/proxmox) — API Proxmox complète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Clonage du template Ubuntu 24.04 → 4 VMs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Cloud-Init injecte : IP statique, user ansible, clé SSH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Inventaire Ansible généré automatiquement (templatefile)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terraform apply → 4 VMs prêtes en ~1 minute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320040" y="3315240"/>
            <a:ext cx="4617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sng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Cycle de vie :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320040" y="3643920"/>
            <a:ext cx="1005120" cy="566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320040" y="36439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terraform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init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1325880" y="3927240"/>
            <a:ext cx="10944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1435680" y="3643920"/>
            <a:ext cx="1005120" cy="566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1435680" y="36439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terraform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2441160" y="3927240"/>
            <a:ext cx="10980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2551320" y="3643920"/>
            <a:ext cx="1005120" cy="566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2551320" y="36439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terraform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apply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3556800" y="3927240"/>
            <a:ext cx="10980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3666600" y="3643920"/>
            <a:ext cx="1005120" cy="566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3666600" y="36439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terraform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destroy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7"/>
          <p:cNvSpPr/>
          <p:nvPr/>
        </p:nvSpPr>
        <p:spPr>
          <a:xfrm>
            <a:off x="5120640" y="1078920"/>
            <a:ext cx="3748320" cy="3519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5212080" y="1143000"/>
            <a:ext cx="3565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VMs provisionnées par Terraform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5212080" y="1481400"/>
            <a:ext cx="3565440" cy="621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5257800" y="1499760"/>
            <a:ext cx="34740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tf-k8s-master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192.168.122.150 — K8s Control Plane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1"/>
          <p:cNvSpPr/>
          <p:nvPr/>
        </p:nvSpPr>
        <p:spPr>
          <a:xfrm>
            <a:off x="5212080" y="2194560"/>
            <a:ext cx="3565440" cy="621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5257800" y="2212920"/>
            <a:ext cx="34740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tf-k8s-node-1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192.168.122.151 — K8s Worker Node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5212080" y="2907720"/>
            <a:ext cx="3565440" cy="621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5257800" y="2926080"/>
            <a:ext cx="34740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tf-k8s-node-2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192.168.122.152 — K8s Worker Node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5212080" y="3620880"/>
            <a:ext cx="3565440" cy="621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5257800" y="3639240"/>
            <a:ext cx="34740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tf-db-postgres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192.168.122.153 — Base PostgreSQL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7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8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8"/>
          <p:cNvSpPr/>
          <p:nvPr/>
        </p:nvSpPr>
        <p:spPr>
          <a:xfrm>
            <a:off x="291240" y="14400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Approche retenue :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Configuration &amp; Sécurité — Ansible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Ansible — Automatisation de la configuration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Agentless · YAML · Idempotent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320040" y="1655640"/>
            <a:ext cx="4662720" cy="14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Agentless : connexion SSH uniquement, rien à installer sur les VMs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Inventaire généré par Terraform → cohérence totale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Playbooks numérotés et ordonnés → dépendances explicites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Chaque playbook correspond à une brique fonctionnelle précise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Idempotent : safe à rejouer sans effet de bord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5166360" y="1078920"/>
            <a:ext cx="3702600" cy="3519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5257800" y="1143000"/>
            <a:ext cx="3519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Les 8 playbooks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5239440" y="1481400"/>
            <a:ext cx="273600" cy="502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5239440" y="148140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5513760" y="148140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5550480" y="148140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k8s-master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7049880" y="1481400"/>
            <a:ext cx="273600" cy="502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7049880" y="148140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7324200" y="148140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7360920" y="148140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k8s-workers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5239440" y="2139840"/>
            <a:ext cx="273600" cy="502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5239440" y="213984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5513760" y="213984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5550480" y="213984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db-postgres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7049880" y="2139840"/>
            <a:ext cx="273600" cy="502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7049880" y="213984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1"/>
          <p:cNvSpPr/>
          <p:nvPr/>
        </p:nvSpPr>
        <p:spPr>
          <a:xfrm>
            <a:off x="7324200" y="213984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7360920" y="213984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metallb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3"/>
          <p:cNvSpPr/>
          <p:nvPr/>
        </p:nvSpPr>
        <p:spPr>
          <a:xfrm>
            <a:off x="5239440" y="2797920"/>
            <a:ext cx="273600" cy="502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5239440" y="279792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5"/>
          <p:cNvSpPr/>
          <p:nvPr/>
        </p:nvSpPr>
        <p:spPr>
          <a:xfrm>
            <a:off x="5513760" y="279792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5550480" y="279792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ingress-nginx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7"/>
          <p:cNvSpPr/>
          <p:nvPr/>
        </p:nvSpPr>
        <p:spPr>
          <a:xfrm>
            <a:off x="7049880" y="2797920"/>
            <a:ext cx="273600" cy="502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8"/>
          <p:cNvSpPr/>
          <p:nvPr/>
        </p:nvSpPr>
        <p:spPr>
          <a:xfrm>
            <a:off x="7049880" y="279792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9"/>
          <p:cNvSpPr/>
          <p:nvPr/>
        </p:nvSpPr>
        <p:spPr>
          <a:xfrm>
            <a:off x="7324200" y="279792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0"/>
          <p:cNvSpPr/>
          <p:nvPr/>
        </p:nvSpPr>
        <p:spPr>
          <a:xfrm>
            <a:off x="7360920" y="279792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metrics-server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1"/>
          <p:cNvSpPr/>
          <p:nvPr/>
        </p:nvSpPr>
        <p:spPr>
          <a:xfrm>
            <a:off x="5239440" y="3456360"/>
            <a:ext cx="273600" cy="502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2"/>
          <p:cNvSpPr/>
          <p:nvPr/>
        </p:nvSpPr>
        <p:spPr>
          <a:xfrm>
            <a:off x="5239440" y="345636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3"/>
          <p:cNvSpPr/>
          <p:nvPr/>
        </p:nvSpPr>
        <p:spPr>
          <a:xfrm>
            <a:off x="5513760" y="345636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4"/>
          <p:cNvSpPr/>
          <p:nvPr/>
        </p:nvSpPr>
        <p:spPr>
          <a:xfrm>
            <a:off x="5550480" y="34563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wikijs-init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5"/>
          <p:cNvSpPr/>
          <p:nvPr/>
        </p:nvSpPr>
        <p:spPr>
          <a:xfrm>
            <a:off x="7049880" y="3456360"/>
            <a:ext cx="273600" cy="502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6"/>
          <p:cNvSpPr/>
          <p:nvPr/>
        </p:nvSpPr>
        <p:spPr>
          <a:xfrm>
            <a:off x="7049880" y="3456360"/>
            <a:ext cx="273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7"/>
          <p:cNvSpPr/>
          <p:nvPr/>
        </p:nvSpPr>
        <p:spPr>
          <a:xfrm>
            <a:off x="7324200" y="3456360"/>
            <a:ext cx="144396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8"/>
          <p:cNvSpPr/>
          <p:nvPr/>
        </p:nvSpPr>
        <p:spPr>
          <a:xfrm>
            <a:off x="7360920" y="34563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wikijs-scale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9"/>
          <p:cNvSpPr/>
          <p:nvPr/>
        </p:nvSpPr>
        <p:spPr>
          <a:xfrm>
            <a:off x="320040" y="3450240"/>
            <a:ext cx="466272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0"/>
          <p:cNvSpPr/>
          <p:nvPr/>
        </p:nvSpPr>
        <p:spPr>
          <a:xfrm>
            <a:off x="411480" y="3477600"/>
            <a:ext cx="4479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Terraform → provisionnement (VMs nues)     Ansible → configuration (logiciel)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41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2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3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69"/>
          <p:cNvSpPr/>
          <p:nvPr/>
        </p:nvSpPr>
        <p:spPr>
          <a:xfrm>
            <a:off x="320040" y="13676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Approche retenue :</a:t>
            </a:r>
            <a:endParaRPr lang="fr-FR" sz="1200" b="0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Hardening CIS Ubuntu 24.04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Sécurisation selon le référentiel CIS Benchmark Niveau 1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320040" y="1655640"/>
            <a:ext cx="4662720" cy="15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CIS Benchmark : référentiel industriel de bonnes pratiques sécurité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Désactivation des services inutiles (Bluetooth, Avahi...)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Paramètres noyau sécurisés via sysctl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SSH : root login désactivé, authentification par clé uniquement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Audit des logs activé (auditd), permissions fichiers sensibles vérifiées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Audit automatisé via GOSS — rapport par VM avec historique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5"/>
          <p:cNvSpPr/>
          <p:nvPr/>
        </p:nvSpPr>
        <p:spPr>
          <a:xfrm>
            <a:off x="5166360" y="1078920"/>
            <a:ext cx="3702600" cy="3519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5257800" y="1143000"/>
            <a:ext cx="3519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Résultats Audit CIS (par VM)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5" name="Table 0"/>
          <p:cNvGraphicFramePr/>
          <p:nvPr/>
        </p:nvGraphicFramePr>
        <p:xfrm>
          <a:off x="5230440" y="1481400"/>
          <a:ext cx="3565800" cy="263304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00584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Critère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Avant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Après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dc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Failed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338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74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Success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368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665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Skipped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17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Total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756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756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Conformité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dc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48,7 %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88,0 %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6" name="Shape 7"/>
          <p:cNvSpPr/>
          <p:nvPr/>
        </p:nvSpPr>
        <p:spPr>
          <a:xfrm>
            <a:off x="320040" y="3737520"/>
            <a:ext cx="4662720" cy="41076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411480" y="3755880"/>
            <a:ext cx="44798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Résultat : passage de 48,7 % → 88,0 % de conformité CIS sur toutes les VMs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0"/>
          <p:cNvSpPr/>
          <p:nvPr/>
        </p:nvSpPr>
        <p:spPr>
          <a:xfrm>
            <a:off x="320040" y="13676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Approche retenue :</a:t>
            </a:r>
            <a:endParaRPr lang="fr-FR" sz="1200" b="0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Kubernetes — Cluster &amp; Composants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du cluster Kubernetes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Control Plane vs Workers — qui fait quoi ?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2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3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4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"/>
          <p:cNvPicPr/>
          <p:nvPr/>
        </p:nvPicPr>
        <p:blipFill>
          <a:blip r:embed="rId1"/>
          <a:stretch/>
        </p:blipFill>
        <p:spPr>
          <a:xfrm>
            <a:off x="1260000" y="1059120"/>
            <a:ext cx="6735240" cy="375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Réseau des pods — Calico (CNI)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Container Network Interface : pourquoi et comment ?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"/>
          <p:cNvSpPr/>
          <p:nvPr/>
        </p:nvSpPr>
        <p:spPr>
          <a:xfrm>
            <a:off x="320040" y="1439640"/>
            <a:ext cx="45399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Qu'est-ce que le CNI ?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Les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pods de nœuds différents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ne peuvent pas communiquer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Le CNI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attribue une IP unique à chaque pod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et configure le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routage inter-nœuds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Règle fondamentale : tout pod peut parler à tout pod,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sans NAT interne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5"/>
          <p:cNvSpPr/>
          <p:nvPr/>
        </p:nvSpPr>
        <p:spPr>
          <a:xfrm>
            <a:off x="5074920" y="1690920"/>
            <a:ext cx="3748320" cy="244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6"/>
          <p:cNvSpPr/>
          <p:nvPr/>
        </p:nvSpPr>
        <p:spPr>
          <a:xfrm>
            <a:off x="5166360" y="1770120"/>
            <a:ext cx="35654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Configuration dans ce projet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7"/>
          <p:cNvSpPr/>
          <p:nvPr/>
        </p:nvSpPr>
        <p:spPr>
          <a:xfrm>
            <a:off x="5166360" y="2233080"/>
            <a:ext cx="3565440" cy="19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Réseau des pods   :  10.244.0.0/16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Réseau des VMs    :  192.168.122.0/24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Mode transport    :  VXLAN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NAT activé        :  les pods sortent sur l'IP de leur VM hôte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8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0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7" name=""/>
          <p:cNvPicPr/>
          <p:nvPr/>
        </p:nvPicPr>
        <p:blipFill>
          <a:blip r:embed="rId1"/>
          <a:stretch/>
        </p:blipFill>
        <p:spPr>
          <a:xfrm>
            <a:off x="900000" y="3420000"/>
            <a:ext cx="959400" cy="95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"/>
          <p:cNvPicPr/>
          <p:nvPr/>
        </p:nvPicPr>
        <p:blipFill>
          <a:blip r:embed="rId2"/>
          <a:stretch/>
        </p:blipFill>
        <p:spPr>
          <a:xfrm>
            <a:off x="2700000" y="3591360"/>
            <a:ext cx="1800000" cy="54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"/>
          <p:cNvSpPr txBox="1"/>
          <p:nvPr/>
        </p:nvSpPr>
        <p:spPr>
          <a:xfrm>
            <a:off x="2160000" y="3672000"/>
            <a:ext cx="42444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fr-F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Workflow de déploiement du cluster Kubernetes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Les 8 playbooks Ansible — séquence ordonnée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274320" y="111564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5"/>
          <p:cNvSpPr/>
          <p:nvPr/>
        </p:nvSpPr>
        <p:spPr>
          <a:xfrm>
            <a:off x="274320" y="1115640"/>
            <a:ext cx="365040" cy="803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274320" y="111564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713160" y="116136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Init Master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713160" y="144468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kubeadm init, containerd, Calico CNI, kubeconfig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4663440" y="111564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0"/>
          <p:cNvSpPr/>
          <p:nvPr/>
        </p:nvSpPr>
        <p:spPr>
          <a:xfrm>
            <a:off x="4663440" y="1115640"/>
            <a:ext cx="365040" cy="803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4663440" y="111564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5102280" y="116136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Join Workers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3"/>
          <p:cNvSpPr/>
          <p:nvPr/>
        </p:nvSpPr>
        <p:spPr>
          <a:xfrm>
            <a:off x="5102280" y="144468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kubeadm join, cluster distribué opérationnel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4"/>
          <p:cNvSpPr/>
          <p:nvPr/>
        </p:nvSpPr>
        <p:spPr>
          <a:xfrm>
            <a:off x="274320" y="204840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5"/>
          <p:cNvSpPr/>
          <p:nvPr/>
        </p:nvSpPr>
        <p:spPr>
          <a:xfrm>
            <a:off x="274320" y="2048400"/>
            <a:ext cx="365040" cy="803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6"/>
          <p:cNvSpPr/>
          <p:nvPr/>
        </p:nvSpPr>
        <p:spPr>
          <a:xfrm>
            <a:off x="274320" y="204840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7"/>
          <p:cNvSpPr/>
          <p:nvPr/>
        </p:nvSpPr>
        <p:spPr>
          <a:xfrm>
            <a:off x="713160" y="209412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8"/>
          <p:cNvSpPr/>
          <p:nvPr/>
        </p:nvSpPr>
        <p:spPr>
          <a:xfrm>
            <a:off x="713160" y="237744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Podman rootless sur VM dédiée (hors cluster)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9"/>
          <p:cNvSpPr/>
          <p:nvPr/>
        </p:nvSpPr>
        <p:spPr>
          <a:xfrm>
            <a:off x="4663440" y="204840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0"/>
          <p:cNvSpPr/>
          <p:nvPr/>
        </p:nvSpPr>
        <p:spPr>
          <a:xfrm>
            <a:off x="4663440" y="2048400"/>
            <a:ext cx="365040" cy="803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1"/>
          <p:cNvSpPr/>
          <p:nvPr/>
        </p:nvSpPr>
        <p:spPr>
          <a:xfrm>
            <a:off x="4663440" y="204840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2"/>
          <p:cNvSpPr/>
          <p:nvPr/>
        </p:nvSpPr>
        <p:spPr>
          <a:xfrm>
            <a:off x="5102280" y="209412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ea580c"/>
                </a:solidFill>
                <a:effectLst/>
                <a:uFillTx/>
                <a:latin typeface="Calibri"/>
                <a:ea typeface="Calibri"/>
              </a:rPr>
              <a:t>MetalLB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3"/>
          <p:cNvSpPr/>
          <p:nvPr/>
        </p:nvSpPr>
        <p:spPr>
          <a:xfrm>
            <a:off x="5102280" y="237744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LoadBalancer on-premise, pool IP 192.168.122.200-220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4"/>
          <p:cNvSpPr/>
          <p:nvPr/>
        </p:nvSpPr>
        <p:spPr>
          <a:xfrm>
            <a:off x="274320" y="298080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5"/>
          <p:cNvSpPr/>
          <p:nvPr/>
        </p:nvSpPr>
        <p:spPr>
          <a:xfrm>
            <a:off x="274320" y="2980800"/>
            <a:ext cx="365040" cy="803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6"/>
          <p:cNvSpPr/>
          <p:nvPr/>
        </p:nvSpPr>
        <p:spPr>
          <a:xfrm>
            <a:off x="274320" y="298080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7"/>
          <p:cNvSpPr/>
          <p:nvPr/>
        </p:nvSpPr>
        <p:spPr>
          <a:xfrm>
            <a:off x="713160" y="302652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Ingress NGINX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8"/>
          <p:cNvSpPr/>
          <p:nvPr/>
        </p:nvSpPr>
        <p:spPr>
          <a:xfrm>
            <a:off x="713160" y="331020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Reverse proxy HTTP exposé via MetalLB (Kustomize)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9"/>
          <p:cNvSpPr/>
          <p:nvPr/>
        </p:nvSpPr>
        <p:spPr>
          <a:xfrm>
            <a:off x="4663440" y="298080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0"/>
          <p:cNvSpPr/>
          <p:nvPr/>
        </p:nvSpPr>
        <p:spPr>
          <a:xfrm>
            <a:off x="4663440" y="2980800"/>
            <a:ext cx="365040" cy="803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1"/>
          <p:cNvSpPr/>
          <p:nvPr/>
        </p:nvSpPr>
        <p:spPr>
          <a:xfrm>
            <a:off x="4663440" y="298080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2"/>
          <p:cNvSpPr/>
          <p:nvPr/>
        </p:nvSpPr>
        <p:spPr>
          <a:xfrm>
            <a:off x="5102280" y="302652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Metrics Server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3"/>
          <p:cNvSpPr/>
          <p:nvPr/>
        </p:nvSpPr>
        <p:spPr>
          <a:xfrm>
            <a:off x="5102280" y="331020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Collecte CPU/RAM → prérequis HPA + kubectl top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4"/>
          <p:cNvSpPr/>
          <p:nvPr/>
        </p:nvSpPr>
        <p:spPr>
          <a:xfrm>
            <a:off x="274320" y="391356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5"/>
          <p:cNvSpPr/>
          <p:nvPr/>
        </p:nvSpPr>
        <p:spPr>
          <a:xfrm>
            <a:off x="274320" y="3913560"/>
            <a:ext cx="365040" cy="803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6"/>
          <p:cNvSpPr/>
          <p:nvPr/>
        </p:nvSpPr>
        <p:spPr>
          <a:xfrm>
            <a:off x="274320" y="391356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7"/>
          <p:cNvSpPr/>
          <p:nvPr/>
        </p:nvSpPr>
        <p:spPr>
          <a:xfrm>
            <a:off x="713160" y="395928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Wiki.js Init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8"/>
          <p:cNvSpPr/>
          <p:nvPr/>
        </p:nvSpPr>
        <p:spPr>
          <a:xfrm>
            <a:off x="713160" y="424296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Helm install, 1 replica, assistant de configuration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9"/>
          <p:cNvSpPr/>
          <p:nvPr/>
        </p:nvSpPr>
        <p:spPr>
          <a:xfrm>
            <a:off x="4663440" y="3913560"/>
            <a:ext cx="4159800" cy="803880"/>
          </a:xfrm>
          <a:prstGeom prst="rect">
            <a:avLst/>
          </a:prstGeom>
          <a:solidFill>
            <a:srgbClr val="f8fafc"/>
          </a:solidFill>
          <a:ln w="190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0"/>
          <p:cNvSpPr/>
          <p:nvPr/>
        </p:nvSpPr>
        <p:spPr>
          <a:xfrm>
            <a:off x="4663440" y="3913560"/>
            <a:ext cx="365040" cy="803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1"/>
          <p:cNvSpPr/>
          <p:nvPr/>
        </p:nvSpPr>
        <p:spPr>
          <a:xfrm>
            <a:off x="4663440" y="3913560"/>
            <a:ext cx="3650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2"/>
          <p:cNvSpPr/>
          <p:nvPr/>
        </p:nvSpPr>
        <p:spPr>
          <a:xfrm>
            <a:off x="5102280" y="3959280"/>
            <a:ext cx="362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Wiki.js Scale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3"/>
          <p:cNvSpPr/>
          <p:nvPr/>
        </p:nvSpPr>
        <p:spPr>
          <a:xfrm>
            <a:off x="5102280" y="4242960"/>
            <a:ext cx="362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Helm upgrade, 2+ replicas, resources, HPA actif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5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6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Services Plateforme — MetalLB &amp; Ingress NGINX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720" y="72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MetalLB — LoadBalancer on-premise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Résoudre le problème de l'IP externe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394920" y="1620000"/>
            <a:ext cx="4680000" cy="21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 besoin :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Le client doit accéder à l'application via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une URL fixe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(wikijs.lab)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Cette URL doit pointer vers une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IP stable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indépendante des workers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MetalLB crée cette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IP virtuelle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— équivalent réseau de VRRP/HSRP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Un nœud worker est élu "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speaker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" : il répond aux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requêtes ARP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pour cette IP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 Si ce worker tombe, un autre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prend le relais automatiquement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7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8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9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62"/>
          <p:cNvSpPr/>
          <p:nvPr/>
        </p:nvSpPr>
        <p:spPr>
          <a:xfrm>
            <a:off x="5074920" y="1691280"/>
            <a:ext cx="3748320" cy="244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73"/>
          <p:cNvSpPr/>
          <p:nvPr/>
        </p:nvSpPr>
        <p:spPr>
          <a:xfrm>
            <a:off x="5166360" y="1770480"/>
            <a:ext cx="35654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Configuration dans ce projet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74"/>
          <p:cNvSpPr/>
          <p:nvPr/>
        </p:nvSpPr>
        <p:spPr>
          <a:xfrm>
            <a:off x="5166360" y="2233440"/>
            <a:ext cx="3565440" cy="19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IP Virtuelle attribuée   :  192.168.122.200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Pool disponible    :  192.168.122.200-220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Mode     :  L2 / ARP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Relié à        :  Service Ingress NGINX Controller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Ingress NGINX — Routage HTTP centralisé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Une seule IP, plusieurs applications — routage par nom de domaine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320040" y="1619640"/>
            <a:ext cx="4662720" cy="17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Un objet Ingress = une règle déclarative (host → service)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 contrôleur NGINX lit les Ingress et configure le reverse proxy dynamiquement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Premier composant de la chaîne à comprendre le protocole HTTP (L7)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Déployé via Kustomize : 2 patches sur le manifeste upstream officiel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 réplicas → haute disponibilité (un par worker)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320040" y="3426840"/>
            <a:ext cx="4662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Objet Ingress pour Wiki.js :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6"/>
          <p:cNvSpPr/>
          <p:nvPr/>
        </p:nvSpPr>
        <p:spPr>
          <a:xfrm>
            <a:off x="320040" y="3701160"/>
            <a:ext cx="4662720" cy="593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411480" y="3728520"/>
            <a:ext cx="447984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host: wikijs.lab  →  service: wikijs  →  port: 80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8"/>
          <p:cNvSpPr/>
          <p:nvPr/>
        </p:nvSpPr>
        <p:spPr>
          <a:xfrm>
            <a:off x="5166360" y="1078920"/>
            <a:ext cx="3702600" cy="3519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5257800" y="1143000"/>
            <a:ext cx="3519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Chaîne de routage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0"/>
          <p:cNvSpPr/>
          <p:nvPr/>
        </p:nvSpPr>
        <p:spPr>
          <a:xfrm>
            <a:off x="5303520" y="1481400"/>
            <a:ext cx="3428280" cy="483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5349240" y="1499760"/>
            <a:ext cx="33368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MetalLB 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192.168.122.200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[L2/L3]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2"/>
          <p:cNvSpPr/>
          <p:nvPr/>
        </p:nvSpPr>
        <p:spPr>
          <a:xfrm>
            <a:off x="6675120" y="1965960"/>
            <a:ext cx="360" cy="9144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5303520" y="2057400"/>
            <a:ext cx="3428280" cy="483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5349240" y="2075760"/>
            <a:ext cx="33368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 LB 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ingress-nginx-controller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[L4 TCP]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5"/>
          <p:cNvSpPr/>
          <p:nvPr/>
        </p:nvSpPr>
        <p:spPr>
          <a:xfrm>
            <a:off x="6675120" y="2541960"/>
            <a:ext cx="360" cy="9144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6"/>
          <p:cNvSpPr/>
          <p:nvPr/>
        </p:nvSpPr>
        <p:spPr>
          <a:xfrm>
            <a:off x="5303520" y="2633400"/>
            <a:ext cx="3428280" cy="483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7"/>
          <p:cNvSpPr/>
          <p:nvPr/>
        </p:nvSpPr>
        <p:spPr>
          <a:xfrm>
            <a:off x="5349240" y="2651760"/>
            <a:ext cx="33368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NGINX Pod 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Routage HTTP Host: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[L7 HTTP]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8"/>
          <p:cNvSpPr/>
          <p:nvPr/>
        </p:nvSpPr>
        <p:spPr>
          <a:xfrm>
            <a:off x="6675120" y="3117960"/>
            <a:ext cx="360" cy="9144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9"/>
          <p:cNvSpPr/>
          <p:nvPr/>
        </p:nvSpPr>
        <p:spPr>
          <a:xfrm>
            <a:off x="5303520" y="3209400"/>
            <a:ext cx="3428280" cy="483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0"/>
          <p:cNvSpPr/>
          <p:nvPr/>
        </p:nvSpPr>
        <p:spPr>
          <a:xfrm>
            <a:off x="5349240" y="3227760"/>
            <a:ext cx="33368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 K8s 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wikijs (ClusterIP)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[L4]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1"/>
          <p:cNvSpPr/>
          <p:nvPr/>
        </p:nvSpPr>
        <p:spPr>
          <a:xfrm>
            <a:off x="6675120" y="3693960"/>
            <a:ext cx="360" cy="9144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2"/>
          <p:cNvSpPr/>
          <p:nvPr/>
        </p:nvSpPr>
        <p:spPr>
          <a:xfrm>
            <a:off x="5303520" y="3785760"/>
            <a:ext cx="3428280" cy="483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3"/>
          <p:cNvSpPr/>
          <p:nvPr/>
        </p:nvSpPr>
        <p:spPr>
          <a:xfrm>
            <a:off x="5349240" y="3803760"/>
            <a:ext cx="33368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Pod Wiki.js 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Réponse HTTP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[App]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5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6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71"/>
          <p:cNvSpPr/>
          <p:nvPr/>
        </p:nvSpPr>
        <p:spPr>
          <a:xfrm>
            <a:off x="320040" y="13676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sng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Approche retenue :</a:t>
            </a:r>
            <a:endParaRPr lang="fr-FR" sz="1200" b="0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Déploiement Applicatif — Wiki.js &amp; Scaling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8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43"/>
          <p:cNvSpPr/>
          <p:nvPr/>
        </p:nvSpPr>
        <p:spPr>
          <a:xfrm>
            <a:off x="0" y="100584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39"/>
          <p:cNvSpPr/>
          <p:nvPr/>
        </p:nvSpPr>
        <p:spPr>
          <a:xfrm>
            <a:off x="365760" y="547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Helm — Gestionnaire de paquets Kubernetes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4"/>
          <p:cNvSpPr/>
          <p:nvPr/>
        </p:nvSpPr>
        <p:spPr>
          <a:xfrm>
            <a:off x="365760" y="658440"/>
            <a:ext cx="841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L'équivalent d'apt/yum pour Kubernetes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48"/>
          <p:cNvSpPr/>
          <p:nvPr/>
        </p:nvSpPr>
        <p:spPr>
          <a:xfrm>
            <a:off x="320040" y="1170360"/>
            <a:ext cx="4662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Helm package un ensemble de manifestes Kubernetes en un Chart réutilisable, avec un fichier de configuration centralisé (values.yaml) et une gestion complète du cycle de vie.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5"/>
          <p:cNvSpPr/>
          <p:nvPr/>
        </p:nvSpPr>
        <p:spPr>
          <a:xfrm>
            <a:off x="320040" y="1938600"/>
            <a:ext cx="4662720" cy="5752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7"/>
          <p:cNvSpPr/>
          <p:nvPr/>
        </p:nvSpPr>
        <p:spPr>
          <a:xfrm>
            <a:off x="320040" y="1938600"/>
            <a:ext cx="63360" cy="575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9"/>
          <p:cNvSpPr/>
          <p:nvPr/>
        </p:nvSpPr>
        <p:spPr>
          <a:xfrm>
            <a:off x="457200" y="1956960"/>
            <a:ext cx="4388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Centralisation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1"/>
          <p:cNvSpPr/>
          <p:nvPr/>
        </p:nvSpPr>
        <p:spPr>
          <a:xfrm>
            <a:off x="457200" y="219456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Tous les paramètres dans un seul values.yaml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50"/>
          <p:cNvSpPr/>
          <p:nvPr/>
        </p:nvSpPr>
        <p:spPr>
          <a:xfrm>
            <a:off x="320040" y="2606040"/>
            <a:ext cx="4662720" cy="5752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52"/>
          <p:cNvSpPr/>
          <p:nvPr/>
        </p:nvSpPr>
        <p:spPr>
          <a:xfrm>
            <a:off x="320040" y="2606040"/>
            <a:ext cx="63360" cy="575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3"/>
          <p:cNvSpPr/>
          <p:nvPr/>
        </p:nvSpPr>
        <p:spPr>
          <a:xfrm>
            <a:off x="457200" y="2624400"/>
            <a:ext cx="4388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Standardisation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55"/>
          <p:cNvSpPr/>
          <p:nvPr/>
        </p:nvSpPr>
        <p:spPr>
          <a:xfrm>
            <a:off x="457200" y="28620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Charts officiels maintenus par la communauté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54"/>
          <p:cNvSpPr/>
          <p:nvPr/>
        </p:nvSpPr>
        <p:spPr>
          <a:xfrm>
            <a:off x="320040" y="3273480"/>
            <a:ext cx="4662720" cy="5752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6"/>
          <p:cNvSpPr/>
          <p:nvPr/>
        </p:nvSpPr>
        <p:spPr>
          <a:xfrm>
            <a:off x="320040" y="3273480"/>
            <a:ext cx="63360" cy="575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7"/>
          <p:cNvSpPr/>
          <p:nvPr/>
        </p:nvSpPr>
        <p:spPr>
          <a:xfrm>
            <a:off x="457200" y="3291840"/>
            <a:ext cx="4388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Versioning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0"/>
          <p:cNvSpPr/>
          <p:nvPr/>
        </p:nvSpPr>
        <p:spPr>
          <a:xfrm>
            <a:off x="457200" y="35294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Chaque déploiement est versionné → rollback facile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58"/>
          <p:cNvSpPr/>
          <p:nvPr/>
        </p:nvSpPr>
        <p:spPr>
          <a:xfrm>
            <a:off x="320040" y="3940920"/>
            <a:ext cx="4662720" cy="5752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59"/>
          <p:cNvSpPr/>
          <p:nvPr/>
        </p:nvSpPr>
        <p:spPr>
          <a:xfrm>
            <a:off x="320040" y="3940920"/>
            <a:ext cx="63360" cy="575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61"/>
          <p:cNvSpPr/>
          <p:nvPr/>
        </p:nvSpPr>
        <p:spPr>
          <a:xfrm>
            <a:off x="457200" y="3959280"/>
            <a:ext cx="4388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Templating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62"/>
          <p:cNvSpPr/>
          <p:nvPr/>
        </p:nvSpPr>
        <p:spPr>
          <a:xfrm>
            <a:off x="457200" y="41972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Variables dynamiques dans les manifestes YAML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60"/>
          <p:cNvSpPr/>
          <p:nvPr/>
        </p:nvSpPr>
        <p:spPr>
          <a:xfrm>
            <a:off x="5166360" y="1143000"/>
            <a:ext cx="3702600" cy="3428280"/>
          </a:xfrm>
          <a:prstGeom prst="rect">
            <a:avLst/>
          </a:prstGeom>
          <a:solidFill>
            <a:srgbClr val="0d1117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63"/>
          <p:cNvSpPr/>
          <p:nvPr/>
        </p:nvSpPr>
        <p:spPr>
          <a:xfrm>
            <a:off x="5257800" y="12070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Commandes Helm utilisées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4"/>
          <p:cNvSpPr/>
          <p:nvPr/>
        </p:nvSpPr>
        <p:spPr>
          <a:xfrm>
            <a:off x="5257800" y="1572840"/>
            <a:ext cx="35197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$ helm repo add requarks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  https://charts.js.wiki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$ helm install wikijs requarks/wiki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  -f values-wikijs-init.yaml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  -n wikijs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$ helm upgrade wikijs requarks/wiki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  -f values-wikijs-scale.yaml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  -n wikijs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$ helm list -n wikijs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8d68d"/>
                </a:solidFill>
                <a:effectLst/>
                <a:uFillTx/>
                <a:latin typeface="Consolas"/>
                <a:ea typeface="Consolas"/>
              </a:rPr>
              <a:t>$ helm history wikijs -n wikijs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1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65"/>
          <p:cNvSpPr/>
          <p:nvPr/>
        </p:nvSpPr>
        <p:spPr>
          <a:xfrm>
            <a:off x="228600" y="4809600"/>
            <a:ext cx="77716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6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Wiki.js — Déploiement en deux phases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Contrainte d'initialisation unique — pattern industriel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4"/>
          <p:cNvSpPr/>
          <p:nvPr/>
        </p:nvSpPr>
        <p:spPr>
          <a:xfrm>
            <a:off x="320040" y="1115640"/>
            <a:ext cx="8503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Wiki.js écrit sa configuration initiale en base de données lors du premier démarrage. Si plusieurs instances démarrent simultanément, des conflits d'état apparaissent. La solution : séparer init et scale.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5"/>
          <p:cNvSpPr/>
          <p:nvPr/>
        </p:nvSpPr>
        <p:spPr>
          <a:xfrm>
            <a:off x="274320" y="1828800"/>
            <a:ext cx="4114080" cy="346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6"/>
          <p:cNvSpPr/>
          <p:nvPr/>
        </p:nvSpPr>
        <p:spPr>
          <a:xfrm>
            <a:off x="274320" y="182880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1 — Initialisation  (playbook 7)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7"/>
          <p:cNvSpPr/>
          <p:nvPr/>
        </p:nvSpPr>
        <p:spPr>
          <a:xfrm>
            <a:off x="274320" y="2212920"/>
            <a:ext cx="41140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helm install — 1 seul replica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Connexion PostgreSQL configurée (IP externe)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Ingress exposé : http://wikijs.lab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Setup wizard en navigateur (admin + URL)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8"/>
          <p:cNvSpPr/>
          <p:nvPr/>
        </p:nvSpPr>
        <p:spPr>
          <a:xfrm>
            <a:off x="4754880" y="1828800"/>
            <a:ext cx="4114080" cy="346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9"/>
          <p:cNvSpPr/>
          <p:nvPr/>
        </p:nvSpPr>
        <p:spPr>
          <a:xfrm>
            <a:off x="4754880" y="182880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2 — Mise à l'échelle  (playbook 8)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0"/>
          <p:cNvSpPr/>
          <p:nvPr/>
        </p:nvSpPr>
        <p:spPr>
          <a:xfrm>
            <a:off x="4754880" y="2212920"/>
            <a:ext cx="41140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helm upgrade — 2 réplicas + resources définies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requests: 200m CPU / 256Mi RAM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limits: 500m CPU / 768Mi RAM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Wingdings 3" charset="2"/>
              <a:buChar char="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HPA activé : scale automatique selon CPU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1"/>
          <p:cNvSpPr/>
          <p:nvPr/>
        </p:nvSpPr>
        <p:spPr>
          <a:xfrm>
            <a:off x="274320" y="3610080"/>
            <a:ext cx="8594640" cy="529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2"/>
          <p:cNvSpPr/>
          <p:nvPr/>
        </p:nvSpPr>
        <p:spPr>
          <a:xfrm>
            <a:off x="274320" y="3610080"/>
            <a:ext cx="63360" cy="529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3"/>
          <p:cNvSpPr/>
          <p:nvPr/>
        </p:nvSpPr>
        <p:spPr>
          <a:xfrm>
            <a:off x="411480" y="3628440"/>
            <a:ext cx="8366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HPA : minReplicas=2 · maxReplicas=5 · targetCPUUtilizationPercentage=70%  — API autoscaling/v2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5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6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457200" y="5486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891b2">
                    <a:alpha val="30000"/>
                  </a:srgbClr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"/>
          <p:cNvSpPr/>
          <p:nvPr/>
        </p:nvSpPr>
        <p:spPr>
          <a:xfrm>
            <a:off x="457200" y="1737360"/>
            <a:ext cx="6400080" cy="4500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"/>
          <p:cNvSpPr/>
          <p:nvPr/>
        </p:nvSpPr>
        <p:spPr>
          <a:xfrm>
            <a:off x="457200" y="187452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Workflow Complet &amp; Conclusion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Flux de requête — Du navigateur au pod Wiki.js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Chaque composant agit dans son périmètre sans connaissance globale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4"/>
          <p:cNvSpPr/>
          <p:nvPr/>
        </p:nvSpPr>
        <p:spPr>
          <a:xfrm>
            <a:off x="274320" y="1097280"/>
            <a:ext cx="328320" cy="474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274320" y="1097280"/>
            <a:ext cx="32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6"/>
          <p:cNvSpPr/>
          <p:nvPr/>
        </p:nvSpPr>
        <p:spPr>
          <a:xfrm>
            <a:off x="640080" y="1097280"/>
            <a:ext cx="1828080" cy="474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7"/>
          <p:cNvSpPr/>
          <p:nvPr/>
        </p:nvSpPr>
        <p:spPr>
          <a:xfrm>
            <a:off x="658440" y="1097280"/>
            <a:ext cx="1791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Navigateur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http://wikijs.lab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8"/>
          <p:cNvSpPr/>
          <p:nvPr/>
        </p:nvSpPr>
        <p:spPr>
          <a:xfrm>
            <a:off x="2505600" y="1097280"/>
            <a:ext cx="6381720" cy="47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9"/>
          <p:cNvSpPr/>
          <p:nvPr/>
        </p:nvSpPr>
        <p:spPr>
          <a:xfrm>
            <a:off x="2578680" y="1097280"/>
            <a:ext cx="6125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Résolution DNS /etc/hosts → 192.168.122.200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0"/>
          <p:cNvSpPr/>
          <p:nvPr/>
        </p:nvSpPr>
        <p:spPr>
          <a:xfrm>
            <a:off x="8430840" y="1097280"/>
            <a:ext cx="456480" cy="474840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1"/>
          <p:cNvSpPr/>
          <p:nvPr/>
        </p:nvSpPr>
        <p:spPr>
          <a:xfrm>
            <a:off x="8430840" y="1097280"/>
            <a:ext cx="456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2"/>
          <p:cNvSpPr/>
          <p:nvPr/>
        </p:nvSpPr>
        <p:spPr>
          <a:xfrm>
            <a:off x="438840" y="1572480"/>
            <a:ext cx="360" cy="1191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3"/>
          <p:cNvSpPr/>
          <p:nvPr/>
        </p:nvSpPr>
        <p:spPr>
          <a:xfrm>
            <a:off x="274320" y="1691640"/>
            <a:ext cx="328320" cy="474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4"/>
          <p:cNvSpPr/>
          <p:nvPr/>
        </p:nvSpPr>
        <p:spPr>
          <a:xfrm>
            <a:off x="274320" y="1691640"/>
            <a:ext cx="32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5"/>
          <p:cNvSpPr/>
          <p:nvPr/>
        </p:nvSpPr>
        <p:spPr>
          <a:xfrm>
            <a:off x="640080" y="1691640"/>
            <a:ext cx="1828080" cy="474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6"/>
          <p:cNvSpPr/>
          <p:nvPr/>
        </p:nvSpPr>
        <p:spPr>
          <a:xfrm>
            <a:off x="658440" y="1691640"/>
            <a:ext cx="1791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MetalLB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192.168.122.200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7"/>
          <p:cNvSpPr/>
          <p:nvPr/>
        </p:nvSpPr>
        <p:spPr>
          <a:xfrm>
            <a:off x="2505600" y="1691640"/>
            <a:ext cx="6381720" cy="47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8"/>
          <p:cNvSpPr/>
          <p:nvPr/>
        </p:nvSpPr>
        <p:spPr>
          <a:xfrm>
            <a:off x="2578680" y="1691640"/>
            <a:ext cx="6125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IP virtuelle annoncée en ARP. Niveau L2/L3 uniquement. Ne connaît pas HTTP.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9"/>
          <p:cNvSpPr/>
          <p:nvPr/>
        </p:nvSpPr>
        <p:spPr>
          <a:xfrm>
            <a:off x="8430840" y="1691640"/>
            <a:ext cx="456480" cy="4748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0"/>
          <p:cNvSpPr/>
          <p:nvPr/>
        </p:nvSpPr>
        <p:spPr>
          <a:xfrm>
            <a:off x="8430840" y="1691640"/>
            <a:ext cx="456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L3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1"/>
          <p:cNvSpPr/>
          <p:nvPr/>
        </p:nvSpPr>
        <p:spPr>
          <a:xfrm>
            <a:off x="438840" y="2166840"/>
            <a:ext cx="360" cy="1191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2"/>
          <p:cNvSpPr/>
          <p:nvPr/>
        </p:nvSpPr>
        <p:spPr>
          <a:xfrm>
            <a:off x="274320" y="2286000"/>
            <a:ext cx="328320" cy="474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3"/>
          <p:cNvSpPr/>
          <p:nvPr/>
        </p:nvSpPr>
        <p:spPr>
          <a:xfrm>
            <a:off x="274320" y="2286000"/>
            <a:ext cx="32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4"/>
          <p:cNvSpPr/>
          <p:nvPr/>
        </p:nvSpPr>
        <p:spPr>
          <a:xfrm>
            <a:off x="640080" y="2286000"/>
            <a:ext cx="1828080" cy="474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5"/>
          <p:cNvSpPr/>
          <p:nvPr/>
        </p:nvSpPr>
        <p:spPr>
          <a:xfrm>
            <a:off x="658440" y="2286000"/>
            <a:ext cx="1791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 LoadBalancer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ingress-nginx-controller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6"/>
          <p:cNvSpPr/>
          <p:nvPr/>
        </p:nvSpPr>
        <p:spPr>
          <a:xfrm>
            <a:off x="2505600" y="2286000"/>
            <a:ext cx="6381720" cy="47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7"/>
          <p:cNvSpPr/>
          <p:nvPr/>
        </p:nvSpPr>
        <p:spPr>
          <a:xfrm>
            <a:off x="2578680" y="2286000"/>
            <a:ext cx="6125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Répartit le trafic TCP vers les pods NGINX (2 réplicas). Niveau L4.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8"/>
          <p:cNvSpPr/>
          <p:nvPr/>
        </p:nvSpPr>
        <p:spPr>
          <a:xfrm>
            <a:off x="8430840" y="2286000"/>
            <a:ext cx="456480" cy="474840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9"/>
          <p:cNvSpPr/>
          <p:nvPr/>
        </p:nvSpPr>
        <p:spPr>
          <a:xfrm>
            <a:off x="8430840" y="2286000"/>
            <a:ext cx="456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L4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30"/>
          <p:cNvSpPr/>
          <p:nvPr/>
        </p:nvSpPr>
        <p:spPr>
          <a:xfrm>
            <a:off x="438840" y="2761200"/>
            <a:ext cx="360" cy="1191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31"/>
          <p:cNvSpPr/>
          <p:nvPr/>
        </p:nvSpPr>
        <p:spPr>
          <a:xfrm>
            <a:off x="274320" y="2880360"/>
            <a:ext cx="328320" cy="474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32"/>
          <p:cNvSpPr/>
          <p:nvPr/>
        </p:nvSpPr>
        <p:spPr>
          <a:xfrm>
            <a:off x="274320" y="2880360"/>
            <a:ext cx="32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33"/>
          <p:cNvSpPr/>
          <p:nvPr/>
        </p:nvSpPr>
        <p:spPr>
          <a:xfrm>
            <a:off x="640080" y="2880360"/>
            <a:ext cx="1828080" cy="474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4"/>
          <p:cNvSpPr/>
          <p:nvPr/>
        </p:nvSpPr>
        <p:spPr>
          <a:xfrm>
            <a:off x="658440" y="2880360"/>
            <a:ext cx="1791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NGINX Ingress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Host: wikijs.lab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5"/>
          <p:cNvSpPr/>
          <p:nvPr/>
        </p:nvSpPr>
        <p:spPr>
          <a:xfrm>
            <a:off x="2505600" y="2880360"/>
            <a:ext cx="6381720" cy="47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36"/>
          <p:cNvSpPr/>
          <p:nvPr/>
        </p:nvSpPr>
        <p:spPr>
          <a:xfrm>
            <a:off x="2578680" y="2880360"/>
            <a:ext cx="6125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1er composant HTTP. Lit la règle Ingress → redirige vers Service wikijs.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7"/>
          <p:cNvSpPr/>
          <p:nvPr/>
        </p:nvSpPr>
        <p:spPr>
          <a:xfrm>
            <a:off x="8430840" y="2880360"/>
            <a:ext cx="456480" cy="474840"/>
          </a:xfrm>
          <a:prstGeom prst="rect">
            <a:avLst/>
          </a:prstGeom>
          <a:solidFill>
            <a:srgbClr val="ea580c">
              <a:alpha val="40000"/>
            </a:srgbClr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8"/>
          <p:cNvSpPr/>
          <p:nvPr/>
        </p:nvSpPr>
        <p:spPr>
          <a:xfrm>
            <a:off x="8430840" y="2880360"/>
            <a:ext cx="456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L7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9"/>
          <p:cNvSpPr/>
          <p:nvPr/>
        </p:nvSpPr>
        <p:spPr>
          <a:xfrm>
            <a:off x="438840" y="3355560"/>
            <a:ext cx="360" cy="1191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40"/>
          <p:cNvSpPr/>
          <p:nvPr/>
        </p:nvSpPr>
        <p:spPr>
          <a:xfrm>
            <a:off x="274320" y="3474720"/>
            <a:ext cx="328320" cy="47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1"/>
          <p:cNvSpPr/>
          <p:nvPr/>
        </p:nvSpPr>
        <p:spPr>
          <a:xfrm>
            <a:off x="274320" y="3474720"/>
            <a:ext cx="32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42"/>
          <p:cNvSpPr/>
          <p:nvPr/>
        </p:nvSpPr>
        <p:spPr>
          <a:xfrm>
            <a:off x="640080" y="3474720"/>
            <a:ext cx="1828080" cy="47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43"/>
          <p:cNvSpPr/>
          <p:nvPr/>
        </p:nvSpPr>
        <p:spPr>
          <a:xfrm>
            <a:off x="658440" y="3474720"/>
            <a:ext cx="1791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 ClusterIP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wikijs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44"/>
          <p:cNvSpPr/>
          <p:nvPr/>
        </p:nvSpPr>
        <p:spPr>
          <a:xfrm>
            <a:off x="2505600" y="3474720"/>
            <a:ext cx="6381720" cy="47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45"/>
          <p:cNvSpPr/>
          <p:nvPr/>
        </p:nvSpPr>
        <p:spPr>
          <a:xfrm>
            <a:off x="2578680" y="3474720"/>
            <a:ext cx="6125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Adresse interne stable. Équilibrage vers les pods Wiki.js actifs via iptables.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46"/>
          <p:cNvSpPr/>
          <p:nvPr/>
        </p:nvSpPr>
        <p:spPr>
          <a:xfrm>
            <a:off x="8430840" y="3474720"/>
            <a:ext cx="456480" cy="47484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47"/>
          <p:cNvSpPr/>
          <p:nvPr/>
        </p:nvSpPr>
        <p:spPr>
          <a:xfrm>
            <a:off x="8430840" y="3474720"/>
            <a:ext cx="456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L4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48"/>
          <p:cNvSpPr/>
          <p:nvPr/>
        </p:nvSpPr>
        <p:spPr>
          <a:xfrm>
            <a:off x="438840" y="3949920"/>
            <a:ext cx="360" cy="1191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49"/>
          <p:cNvSpPr/>
          <p:nvPr/>
        </p:nvSpPr>
        <p:spPr>
          <a:xfrm>
            <a:off x="274320" y="4069080"/>
            <a:ext cx="328320" cy="474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50"/>
          <p:cNvSpPr/>
          <p:nvPr/>
        </p:nvSpPr>
        <p:spPr>
          <a:xfrm>
            <a:off x="274320" y="4069080"/>
            <a:ext cx="32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51"/>
          <p:cNvSpPr/>
          <p:nvPr/>
        </p:nvSpPr>
        <p:spPr>
          <a:xfrm>
            <a:off x="640080" y="4069080"/>
            <a:ext cx="1828080" cy="474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52"/>
          <p:cNvSpPr/>
          <p:nvPr/>
        </p:nvSpPr>
        <p:spPr>
          <a:xfrm>
            <a:off x="658440" y="4069080"/>
            <a:ext cx="1791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Pod Wiki.js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Conteneur applicatif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53"/>
          <p:cNvSpPr/>
          <p:nvPr/>
        </p:nvSpPr>
        <p:spPr>
          <a:xfrm>
            <a:off x="2505600" y="4069080"/>
            <a:ext cx="6381720" cy="47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54"/>
          <p:cNvSpPr/>
          <p:nvPr/>
        </p:nvSpPr>
        <p:spPr>
          <a:xfrm>
            <a:off x="2578680" y="4069080"/>
            <a:ext cx="6125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Traite la requête HTTP et retourne la réponse au client.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55"/>
          <p:cNvSpPr/>
          <p:nvPr/>
        </p:nvSpPr>
        <p:spPr>
          <a:xfrm>
            <a:off x="8430840" y="4069080"/>
            <a:ext cx="456480" cy="474840"/>
          </a:xfrm>
          <a:prstGeom prst="rect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56"/>
          <p:cNvSpPr/>
          <p:nvPr/>
        </p:nvSpPr>
        <p:spPr>
          <a:xfrm>
            <a:off x="8430840" y="4069080"/>
            <a:ext cx="456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App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57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58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59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"/>
          <p:cNvSpPr/>
          <p:nvPr/>
        </p:nvSpPr>
        <p:spPr>
          <a:xfrm>
            <a:off x="365760" y="547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Workflow complet de déploiement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3"/>
          <p:cNvSpPr/>
          <p:nvPr/>
        </p:nvSpPr>
        <p:spPr>
          <a:xfrm>
            <a:off x="365760" y="62172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De zéro à l'application en production — pipeline entièrement automatisé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4"/>
          <p:cNvSpPr/>
          <p:nvPr/>
        </p:nvSpPr>
        <p:spPr>
          <a:xfrm>
            <a:off x="182880" y="1126440"/>
            <a:ext cx="1114920" cy="1005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5"/>
          <p:cNvSpPr/>
          <p:nvPr/>
        </p:nvSpPr>
        <p:spPr>
          <a:xfrm>
            <a:off x="182880" y="11721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🖥️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6"/>
          <p:cNvSpPr/>
          <p:nvPr/>
        </p:nvSpPr>
        <p:spPr>
          <a:xfrm>
            <a:off x="182880" y="16293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Proxmox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Installé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7"/>
          <p:cNvSpPr/>
          <p:nvPr/>
        </p:nvSpPr>
        <p:spPr>
          <a:xfrm>
            <a:off x="1298160" y="1629360"/>
            <a:ext cx="14652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8"/>
          <p:cNvSpPr/>
          <p:nvPr/>
        </p:nvSpPr>
        <p:spPr>
          <a:xfrm>
            <a:off x="1444680" y="1126440"/>
            <a:ext cx="1114920" cy="1005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9"/>
          <p:cNvSpPr/>
          <p:nvPr/>
        </p:nvSpPr>
        <p:spPr>
          <a:xfrm>
            <a:off x="1444680" y="11721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⚙️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0"/>
          <p:cNvSpPr/>
          <p:nvPr/>
        </p:nvSpPr>
        <p:spPr>
          <a:xfrm>
            <a:off x="1444680" y="16293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Terraform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VMs créées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1"/>
          <p:cNvSpPr/>
          <p:nvPr/>
        </p:nvSpPr>
        <p:spPr>
          <a:xfrm>
            <a:off x="2560320" y="1629360"/>
            <a:ext cx="14616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2"/>
          <p:cNvSpPr/>
          <p:nvPr/>
        </p:nvSpPr>
        <p:spPr>
          <a:xfrm>
            <a:off x="2706480" y="1126440"/>
            <a:ext cx="1114920" cy="1005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3"/>
          <p:cNvSpPr/>
          <p:nvPr/>
        </p:nvSpPr>
        <p:spPr>
          <a:xfrm>
            <a:off x="2706480" y="11721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🔧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4"/>
          <p:cNvSpPr/>
          <p:nvPr/>
        </p:nvSpPr>
        <p:spPr>
          <a:xfrm>
            <a:off x="2706480" y="16293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Ansible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Hardening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5"/>
          <p:cNvSpPr/>
          <p:nvPr/>
        </p:nvSpPr>
        <p:spPr>
          <a:xfrm>
            <a:off x="3822120" y="1629360"/>
            <a:ext cx="14616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6"/>
          <p:cNvSpPr/>
          <p:nvPr/>
        </p:nvSpPr>
        <p:spPr>
          <a:xfrm>
            <a:off x="3968640" y="1126440"/>
            <a:ext cx="1114920" cy="1005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7"/>
          <p:cNvSpPr/>
          <p:nvPr/>
        </p:nvSpPr>
        <p:spPr>
          <a:xfrm>
            <a:off x="3968640" y="11721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☸️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8"/>
          <p:cNvSpPr/>
          <p:nvPr/>
        </p:nvSpPr>
        <p:spPr>
          <a:xfrm>
            <a:off x="3968640" y="16293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K8s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Cluster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9"/>
          <p:cNvSpPr/>
          <p:nvPr/>
        </p:nvSpPr>
        <p:spPr>
          <a:xfrm>
            <a:off x="5083920" y="1629360"/>
            <a:ext cx="14616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0"/>
          <p:cNvSpPr/>
          <p:nvPr/>
        </p:nvSpPr>
        <p:spPr>
          <a:xfrm>
            <a:off x="5230440" y="1126440"/>
            <a:ext cx="1114920" cy="1005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21"/>
          <p:cNvSpPr/>
          <p:nvPr/>
        </p:nvSpPr>
        <p:spPr>
          <a:xfrm>
            <a:off x="5230440" y="11721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2"/>
          <p:cNvSpPr/>
          <p:nvPr/>
        </p:nvSpPr>
        <p:spPr>
          <a:xfrm>
            <a:off x="5230440" y="16293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MetalLB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 Ingress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3"/>
          <p:cNvSpPr/>
          <p:nvPr/>
        </p:nvSpPr>
        <p:spPr>
          <a:xfrm>
            <a:off x="6345720" y="1629360"/>
            <a:ext cx="14652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24"/>
          <p:cNvSpPr/>
          <p:nvPr/>
        </p:nvSpPr>
        <p:spPr>
          <a:xfrm>
            <a:off x="6492240" y="1126440"/>
            <a:ext cx="1114920" cy="1005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5"/>
          <p:cNvSpPr/>
          <p:nvPr/>
        </p:nvSpPr>
        <p:spPr>
          <a:xfrm>
            <a:off x="6492240" y="11721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📦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26"/>
          <p:cNvSpPr/>
          <p:nvPr/>
        </p:nvSpPr>
        <p:spPr>
          <a:xfrm>
            <a:off x="6492240" y="16293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Helm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Wiki.js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7"/>
          <p:cNvSpPr/>
          <p:nvPr/>
        </p:nvSpPr>
        <p:spPr>
          <a:xfrm>
            <a:off x="7607520" y="1629360"/>
            <a:ext cx="146520" cy="360"/>
          </a:xfrm>
          <a:prstGeom prst="line">
            <a:avLst/>
          </a:prstGeom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8"/>
          <p:cNvSpPr/>
          <p:nvPr/>
        </p:nvSpPr>
        <p:spPr>
          <a:xfrm>
            <a:off x="7754040" y="1126440"/>
            <a:ext cx="1114920" cy="1005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29"/>
          <p:cNvSpPr/>
          <p:nvPr/>
        </p:nvSpPr>
        <p:spPr>
          <a:xfrm>
            <a:off x="7754040" y="11721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📈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30"/>
          <p:cNvSpPr/>
          <p:nvPr/>
        </p:nvSpPr>
        <p:spPr>
          <a:xfrm>
            <a:off x="7754040" y="1629360"/>
            <a:ext cx="1114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HPA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Auto-scale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9" name="Table 0"/>
          <p:cNvGraphicFramePr/>
          <p:nvPr/>
        </p:nvGraphicFramePr>
        <p:xfrm>
          <a:off x="202320" y="2197440"/>
          <a:ext cx="8617320" cy="2522880"/>
        </p:xfrm>
        <a:graphic>
          <a:graphicData uri="http://schemas.openxmlformats.org/drawingml/2006/table">
            <a:tbl>
              <a:tblPr/>
              <a:tblGrid>
                <a:gridCol w="2566800"/>
                <a:gridCol w="1374840"/>
                <a:gridCol w="4676040"/>
              </a:tblGrid>
              <a:tr h="420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Composant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État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Détail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Cluster K8s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Running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 master + 2 workers — kubeadm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PostgreSQL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Running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Podman rootless, VM dédiée .153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MetalLB + Ingress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Running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IP 192.168.122.200, 2 réplicas NGINX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Wiki.js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Running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 pods min, HPA actif (max 5)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Hardening CIS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 88%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Avant : 48,7% — Après : 88,0%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0" name="Shape 31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32"/>
          <p:cNvSpPr/>
          <p:nvPr/>
        </p:nvSpPr>
        <p:spPr>
          <a:xfrm>
            <a:off x="274320" y="4809600"/>
            <a:ext cx="8046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3"/>
          <p:cNvSpPr/>
          <p:nvPr/>
        </p:nvSpPr>
        <p:spPr>
          <a:xfrm>
            <a:off x="8503920" y="4809600"/>
            <a:ext cx="4564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/>
          <p:cNvSpPr/>
          <p:nvPr/>
        </p:nvSpPr>
        <p:spPr>
          <a:xfrm>
            <a:off x="0" y="0"/>
            <a:ext cx="456480" cy="514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2"/>
          <p:cNvSpPr/>
          <p:nvPr/>
        </p:nvSpPr>
        <p:spPr>
          <a:xfrm>
            <a:off x="640080" y="3200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Bilan &amp; Perspectives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3"/>
          <p:cNvSpPr/>
          <p:nvPr/>
        </p:nvSpPr>
        <p:spPr>
          <a:xfrm>
            <a:off x="640080" y="914400"/>
            <a:ext cx="4571280" cy="4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4"/>
          <p:cNvSpPr/>
          <p:nvPr/>
        </p:nvSpPr>
        <p:spPr>
          <a:xfrm>
            <a:off x="640080" y="1051560"/>
            <a:ext cx="273600" cy="346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5"/>
          <p:cNvSpPr/>
          <p:nvPr/>
        </p:nvSpPr>
        <p:spPr>
          <a:xfrm>
            <a:off x="640080" y="1051560"/>
            <a:ext cx="273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6"/>
          <p:cNvSpPr/>
          <p:nvPr/>
        </p:nvSpPr>
        <p:spPr>
          <a:xfrm>
            <a:off x="1005840" y="1051560"/>
            <a:ext cx="7954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 100% automatisée — de la VM au pod en production sans intervention manuelle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7"/>
          <p:cNvSpPr/>
          <p:nvPr/>
        </p:nvSpPr>
        <p:spPr>
          <a:xfrm>
            <a:off x="640080" y="1527120"/>
            <a:ext cx="273600" cy="346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8"/>
          <p:cNvSpPr/>
          <p:nvPr/>
        </p:nvSpPr>
        <p:spPr>
          <a:xfrm>
            <a:off x="640080" y="1527120"/>
            <a:ext cx="273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9"/>
          <p:cNvSpPr/>
          <p:nvPr/>
        </p:nvSpPr>
        <p:spPr>
          <a:xfrm>
            <a:off x="1005840" y="1527120"/>
            <a:ext cx="7954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Séparation claire des responsabilités entre chaque outil de la chaîne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0"/>
          <p:cNvSpPr/>
          <p:nvPr/>
        </p:nvSpPr>
        <p:spPr>
          <a:xfrm>
            <a:off x="640080" y="2002680"/>
            <a:ext cx="273600" cy="346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1"/>
          <p:cNvSpPr/>
          <p:nvPr/>
        </p:nvSpPr>
        <p:spPr>
          <a:xfrm>
            <a:off x="640080" y="2002680"/>
            <a:ext cx="273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2"/>
          <p:cNvSpPr/>
          <p:nvPr/>
        </p:nvSpPr>
        <p:spPr>
          <a:xfrm>
            <a:off x="1005840" y="2002680"/>
            <a:ext cx="7954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intégrée dès la conception — Hardening CIS 88% + containerd rootless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3"/>
          <p:cNvSpPr/>
          <p:nvPr/>
        </p:nvSpPr>
        <p:spPr>
          <a:xfrm>
            <a:off x="640080" y="2477880"/>
            <a:ext cx="273600" cy="346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4"/>
          <p:cNvSpPr/>
          <p:nvPr/>
        </p:nvSpPr>
        <p:spPr>
          <a:xfrm>
            <a:off x="640080" y="2477880"/>
            <a:ext cx="273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5"/>
          <p:cNvSpPr/>
          <p:nvPr/>
        </p:nvSpPr>
        <p:spPr>
          <a:xfrm>
            <a:off x="1005840" y="2477880"/>
            <a:ext cx="7954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Scalabilité native — HPA ajuste automatiquement les ressources selon la charge CPU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16"/>
          <p:cNvSpPr/>
          <p:nvPr/>
        </p:nvSpPr>
        <p:spPr>
          <a:xfrm>
            <a:off x="640080" y="2953440"/>
            <a:ext cx="273600" cy="346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7"/>
          <p:cNvSpPr/>
          <p:nvPr/>
        </p:nvSpPr>
        <p:spPr>
          <a:xfrm>
            <a:off x="640080" y="2953440"/>
            <a:ext cx="273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8"/>
          <p:cNvSpPr/>
          <p:nvPr/>
        </p:nvSpPr>
        <p:spPr>
          <a:xfrm>
            <a:off x="1005840" y="2953440"/>
            <a:ext cx="7954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Reproductibilité totale — tout est versionné et rejouable depuis le code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9"/>
          <p:cNvSpPr/>
          <p:nvPr/>
        </p:nvSpPr>
        <p:spPr>
          <a:xfrm>
            <a:off x="640080" y="3774240"/>
            <a:ext cx="8320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7ba4cc"/>
                </a:solidFill>
                <a:effectLst/>
                <a:uFillTx/>
                <a:latin typeface="Calibri"/>
                <a:ea typeface="Calibri"/>
              </a:rPr>
              <a:t>Perspectives : CI/CD pipeline (GitHub Actions → cluster), cert-manager TLS, Prometheus + Grafana, etcd multi-nœuds HA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20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8172b"/>
          </a:solidFill>
          <a:ln w="12700">
            <a:solidFill>
              <a:srgbClr val="081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1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0"/>
          <p:cNvSpPr/>
          <p:nvPr/>
        </p:nvSpPr>
        <p:spPr>
          <a:xfrm>
            <a:off x="0" y="0"/>
            <a:ext cx="9143280" cy="109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"/>
          <p:cNvSpPr/>
          <p:nvPr/>
        </p:nvSpPr>
        <p:spPr>
          <a:xfrm>
            <a:off x="3291840" y="502920"/>
            <a:ext cx="2559600" cy="2559600"/>
          </a:xfrm>
          <a:prstGeom prst="ellipse">
            <a:avLst/>
          </a:prstGeom>
          <a:solidFill>
            <a:srgbClr val="0d2f4e"/>
          </a:solidFill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3291840" y="502920"/>
            <a:ext cx="255960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fr-FR" sz="7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"/>
          <p:cNvSpPr/>
          <p:nvPr/>
        </p:nvSpPr>
        <p:spPr>
          <a:xfrm>
            <a:off x="457200" y="32461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Merci de votre attention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4"/>
          <p:cNvSpPr/>
          <p:nvPr/>
        </p:nvSpPr>
        <p:spPr>
          <a:xfrm>
            <a:off x="457200" y="382212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Des questions ?</a:t>
            </a:r>
            <a:endParaRPr lang="fr-F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457200" y="427932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ba4cc"/>
                </a:solidFill>
                <a:effectLst/>
                <a:uFillTx/>
                <a:latin typeface="Calibri"/>
                <a:ea typeface="Calibri"/>
              </a:rPr>
              <a:t>Jérémy FOURNIER  ·  Kenza NAIT ATMANE  |  M2 — 2026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6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7"/>
          <p:cNvSpPr/>
          <p:nvPr/>
        </p:nvSpPr>
        <p:spPr>
          <a:xfrm>
            <a:off x="274320" y="4809600"/>
            <a:ext cx="86860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ecbee"/>
                </a:solidFill>
                <a:effectLst/>
                <a:uFillTx/>
                <a:latin typeface="Calibri"/>
                <a:ea typeface="Calibri"/>
              </a:rPr>
              <a:t>Jérémy FOURNIER - Kenza NAIT ATMANE  |  M2 ASR DevOps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Application>LibreOffice/25.8.5.2$Windows_X86_64 LibreOffice_project/9c8b85f387cc00a89945a79c9e6239f32e450ac2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2026-04-08T12:23:03Z</dcterms:created>
  <dc:creator>Jérémy FOURNIER - Kenza AT MANE</dc:creator>
  <dc:description/>
  <dc:language>fr-FR</dc:language>
  <cp:lastModifiedBy/>
  <dcterms:modified xsi:type="dcterms:W3CDTF">2026-04-08T18:29:26Z</dcterms:modified>
  <cp:revision>25</cp:revision>
  <dc:subject>PptxGenJS Presentation</dc:subject>
  <dc:title>Projet DevOps M2 ASR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